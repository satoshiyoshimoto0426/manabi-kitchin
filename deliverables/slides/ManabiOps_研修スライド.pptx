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0" y="0"/>
            <a:ext cx="612648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 i="0">
                <a:solidFill>
                  <a:srgbClr val="1B5E20"/>
                </a:solidFill>
                <a:latin typeface="Yu Gothic UI"/>
              </a:rPr>
              <a:t>ManabiOps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
                  <a:srgbClr val="2C2C2C"/>
                </a:solidFill>
                <a:latin typeface="Yu Gothic UI"/>
              </a:rPr>
              <a:t>こども食堂の運営を、LINEひとつで。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57C00"/>
                </a:solidFill>
                <a:latin typeface="Yu Gothic UI"/>
              </a:rPr>
              <a:t>事務作業を 月8時間 → 30分 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Yu Gothic UI"/>
              </a:rPr>
              <a:t>学び舎キッチン 運営自動化プラットフォーム｜研修スライド v1.0   2026年4月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本日のアジェンダ（15分）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4592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Yu Gothic UI"/>
              </a:rPr>
              <a:t>🎯 この研修で分かること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Yu Gothic UI"/>
              </a:rPr>
              <a:t>・ManabiOps が何をしてくれるか</a:t>
            </a:r>
          </a:p>
          <a:p>
            <a:pPr algn="l"/>
            <a:r>
              <a:rPr sz="1800" b="0" i="0">
                <a:solidFill>
                  <a:srgbClr val="2C2C2C"/>
                </a:solidFill>
                <a:latin typeface="Yu Gothic UI"/>
              </a:rPr>
              <a:t>・日々の使い方（LINEに送るだけ）</a:t>
            </a:r>
          </a:p>
          <a:p>
            <a:pPr algn="l"/>
            <a:r>
              <a:rPr sz="1800" b="0" i="0">
                <a:solidFill>
                  <a:srgbClr val="2C2C2C"/>
                </a:solidFill>
                <a:latin typeface="Yu Gothic UI"/>
              </a:rPr>
              <a:t>・困ったときの対処法</a:t>
            </a:r>
          </a:p>
          <a:p>
            <a:pPr algn="l"/>
            <a:r>
              <a:rPr sz="1800" b="0" i="0">
                <a:solidFill>
                  <a:srgbClr val="2C2C2C"/>
                </a:solidFill>
                <a:latin typeface="Yu Gothic UI"/>
              </a:rPr>
              <a:t>・安心・安全の仕組み</a:t>
            </a:r>
          </a:p>
          <a:p>
            <a:pPr algn="l"/>
            <a:r>
              <a:rPr sz="1800" b="0" i="0">
                <a:solidFill>
                  <a:srgbClr val="2C2C2C"/>
                </a:solidFill>
                <a:latin typeface="Yu Gothic UI"/>
              </a:rPr>
              <a:t>・費用と役割分担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Yu Gothic UI"/>
              </a:rPr>
              <a:t>📋 進行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Yu Gothic UI"/>
              </a:rPr>
              <a:t>1. 課題と解決（3分）</a:t>
            </a:r>
          </a:p>
          <a:p>
            <a:pPr algn="l"/>
            <a:r>
              <a:rPr sz="1800" b="0" i="0">
                <a:solidFill>
                  <a:srgbClr val="2C2C2C"/>
                </a:solidFill>
                <a:latin typeface="Yu Gothic UI"/>
              </a:rPr>
              <a:t>2. 機能ツアー（5分）</a:t>
            </a:r>
          </a:p>
          <a:p>
            <a:pPr algn="l"/>
            <a:r>
              <a:rPr sz="1800" b="0" i="0">
                <a:solidFill>
                  <a:srgbClr val="2C2C2C"/>
                </a:solidFill>
                <a:latin typeface="Yu Gothic UI"/>
              </a:rPr>
              <a:t>3. 使い方デモ（5分）</a:t>
            </a:r>
          </a:p>
          <a:p>
            <a:pPr algn="l"/>
            <a:r>
              <a:rPr sz="1800" b="0" i="0">
                <a:solidFill>
                  <a:srgbClr val="2C2C2C"/>
                </a:solidFill>
                <a:latin typeface="Yu Gothic UI"/>
              </a:rPr>
              <a:t>4. Q&amp;A（2分）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こんなお悩み、ありませんか？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82880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5E20"/>
                </a:solidFill>
                <a:latin typeface="Yu Gothic UI"/>
              </a:rPr>
              <a:t>📒 経理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Yu Gothic UI"/>
              </a:rPr>
              <a:t>領収書の山。月末に</a:t>
            </a:r>
          </a:p>
          <a:p>
            <a:pPr algn="l"/>
            <a:r>
              <a:rPr sz="1700" b="0" i="0">
                <a:solidFill>
                  <a:srgbClr val="2C2C2C"/>
                </a:solidFill>
                <a:latin typeface="Yu Gothic UI"/>
              </a:rPr>
              <a:t>エクセル入力で 月3時間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5E20"/>
                </a:solidFill>
                <a:latin typeface="Yu Gothic UI"/>
              </a:rPr>
              <a:t>📝 名簿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Yu Gothic UI"/>
              </a:rPr>
              <a:t>手書き参加者名簿を</a:t>
            </a:r>
          </a:p>
          <a:p>
            <a:pPr algn="l"/>
            <a:r>
              <a:rPr sz="1700" b="0" i="0">
                <a:solidFill>
                  <a:srgbClr val="2C2C2C"/>
                </a:solidFill>
                <a:latin typeface="Yu Gothic UI"/>
              </a:rPr>
              <a:t>毎回入力で 月2時間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116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B5E20"/>
                </a:solidFill>
                <a:latin typeface="Yu Gothic UI"/>
              </a:rPr>
              <a:t>📷 SNS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C2C2C"/>
                </a:solidFill>
                <a:latin typeface="Yu Gothic UI"/>
              </a:rPr>
              <a:t>写真の顔ぼかしと</a:t>
            </a:r>
          </a:p>
          <a:p>
            <a:pPr algn="l"/>
            <a:r>
              <a:rPr sz="1700" b="0" i="0">
                <a:solidFill>
                  <a:srgbClr val="2C2C2C"/>
                </a:solidFill>
                <a:latin typeface="Yu Gothic UI"/>
              </a:rPr>
              <a:t>投稿準備で 月3時間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937760"/>
            <a:ext cx="9418320" cy="10972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12064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Yu Gothic UI"/>
              </a:rPr>
              <a:t>⏰ 合計 月8時間 超、本来のこども対応に使えない…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ManabiOps が解決します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57C00"/>
                </a:solidFill>
                <a:latin typeface="Yu Gothic UI"/>
              </a:rPr>
              <a:t>LINEで送る → AIが処理 → 自動で記録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0" i="0">
                <a:solidFill>
                  <a:srgbClr val="2C2C2C"/>
                </a:solidFill>
                <a:latin typeface="Yu Gothic U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Yu Gothic UI"/>
              </a:rPr>
              <a:t>LINEで送るだけ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Yu Gothic UI"/>
              </a:rPr>
              <a:t>専用アプリ不要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6888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0" i="0">
                <a:solidFill>
                  <a:srgbClr val="2C2C2C"/>
                </a:solidFill>
                <a:latin typeface="Yu Gothic U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6576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Yu Gothic UI"/>
              </a:rPr>
              <a:t>AIが自動分類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29768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Yu Gothic UI"/>
              </a:rPr>
              <a:t>領収書・名簿・写真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46888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0" i="0">
                <a:solidFill>
                  <a:srgbClr val="2C2C2C"/>
                </a:solidFill>
                <a:latin typeface="Yu Gothic U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576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Yu Gothic UI"/>
              </a:rPr>
              <a:t>ワンタップ承認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9768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Yu Gothic UI"/>
              </a:rPr>
              <a:t>間違いは防ぐ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57C00"/>
                </a:solidFill>
                <a:latin typeface="Yu Gothic UI"/>
              </a:rPr>
              <a:t>👉 月8時間 → 月30分へ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Before / After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45920"/>
            <a:ext cx="2286000" cy="640080"/>
          </a:xfrm>
          <a:prstGeom prst="rect">
            <a:avLst/>
          </a:prstGeom>
          <a:solidFill>
            <a:srgbClr val="2E7D3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作業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45920"/>
            <a:ext cx="2743200" cy="640080"/>
          </a:xfrm>
          <a:prstGeom prst="rect">
            <a:avLst/>
          </a:prstGeom>
          <a:solidFill>
            <a:srgbClr val="2E7D3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Before（手作業）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645920"/>
            <a:ext cx="4114800" cy="640080"/>
          </a:xfrm>
          <a:prstGeom prst="rect">
            <a:avLst/>
          </a:prstGeom>
          <a:solidFill>
            <a:srgbClr val="2E7D3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After（ManabiOps）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645920"/>
            <a:ext cx="1828800" cy="640080"/>
          </a:xfrm>
          <a:prstGeom prst="rect">
            <a:avLst/>
          </a:prstGeom>
          <a:solidFill>
            <a:srgbClr val="2E7D3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削減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領収書入力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286000"/>
            <a:ext cx="2743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月3時間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286000"/>
            <a:ext cx="4114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LINE送信+承認 = 5分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228600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-95%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参加者名簿入力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926080"/>
            <a:ext cx="2743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月2時間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926080"/>
            <a:ext cx="4114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写真1枚で 自動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292608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-100%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SNS投稿準備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566160"/>
            <a:ext cx="2743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月3時間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566160"/>
            <a:ext cx="4114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写真選んで 承認のみ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56616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-90%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月次集計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206240"/>
            <a:ext cx="2743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月1時間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4206240"/>
            <a:ext cx="4114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毎月1日 自動送信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20624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C2C2C"/>
                </a:solidFill>
                <a:latin typeface="Yu Gothic UI"/>
              </a:rPr>
              <a:t>-100%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46320"/>
            <a:ext cx="2286000" cy="640080"/>
          </a:xfrm>
          <a:prstGeom prst="rect">
            <a:avLst/>
          </a:prstGeom>
          <a:solidFill>
            <a:srgbClr val="E8F5E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5E20"/>
                </a:solidFill>
                <a:latin typeface="Yu Gothic UI"/>
              </a:rPr>
              <a:t>合計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846320"/>
            <a:ext cx="2743200" cy="640080"/>
          </a:xfrm>
          <a:prstGeom prst="rect">
            <a:avLst/>
          </a:prstGeom>
          <a:solidFill>
            <a:srgbClr val="E8F5E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5E20"/>
                </a:solidFill>
                <a:latin typeface="Yu Gothic UI"/>
              </a:rPr>
              <a:t>月9時間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846320"/>
            <a:ext cx="4114800" cy="640080"/>
          </a:xfrm>
          <a:prstGeom prst="rect">
            <a:avLst/>
          </a:prstGeom>
          <a:solidFill>
            <a:srgbClr val="E8F5E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5E20"/>
                </a:solidFill>
                <a:latin typeface="Yu Gothic UI"/>
              </a:rPr>
              <a:t>月30分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4846320"/>
            <a:ext cx="1828800" cy="640080"/>
          </a:xfrm>
          <a:prstGeom prst="rect">
            <a:avLst/>
          </a:prstGeom>
          <a:solidFill>
            <a:srgbClr val="E8F5E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5E20"/>
                </a:solidFill>
                <a:latin typeface="Yu Gothic UI"/>
              </a:rPr>
              <a:t>-94%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Yu Gothic UI"/>
              </a:rPr>
              <a:t>※当団体の試算。作業内容により差があります。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全体像：3つの入口・3つの出口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645920"/>
            <a:ext cx="5486400" cy="38404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📥 入口（スタッフがLINEに送る）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  <a:latin typeface="Yu Gothic UI"/>
              </a:rPr>
              <a:t>🧾 領収書の写真</a:t>
            </a:r>
          </a:p>
          <a:p>
            <a:pPr algn="l"/>
            <a:r>
              <a:rPr sz="2000" b="0" i="0">
                <a:solidFill>
                  <a:srgbClr val="2C2C2C"/>
                </a:solidFill>
                <a:latin typeface="Yu Gothic UI"/>
              </a:rPr>
              <a:t>📝 参加者名簿の写真</a:t>
            </a:r>
          </a:p>
          <a:p>
            <a:pPr algn="l"/>
            <a:r>
              <a:rPr sz="2000" b="0" i="0">
                <a:solidFill>
                  <a:srgbClr val="2C2C2C"/>
                </a:solidFill>
                <a:latin typeface="Yu Gothic UI"/>
              </a:rPr>
              <a:t>📷 活動中の写真・動画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38404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📤 出口（AIが自動で作る）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2C2C2C"/>
                </a:solidFill>
                <a:latin typeface="Yu Gothic UI"/>
              </a:rPr>
              <a:t>📊 Google Sheets 会計台帳</a:t>
            </a:r>
          </a:p>
          <a:p>
            <a:pPr algn="l"/>
            <a:r>
              <a:rPr sz="2000" b="0" i="0">
                <a:solidFill>
                  <a:srgbClr val="2C2C2C"/>
                </a:solidFill>
                <a:latin typeface="Yu Gothic UI"/>
              </a:rPr>
              <a:t>🔐 Firestore 参加者DB（暗号化）</a:t>
            </a:r>
          </a:p>
          <a:p>
            <a:pPr algn="l"/>
            <a:r>
              <a:rPr sz="2000" b="0" i="0">
                <a:solidFill>
                  <a:srgbClr val="2C2C2C"/>
                </a:solidFill>
                <a:latin typeface="Yu Gothic UI"/>
              </a:rPr>
              <a:t>📱 Instagram 投稿（顔ぼかし済）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57C00"/>
                </a:solidFill>
                <a:latin typeface="Yu Gothic UI"/>
              </a:rPr>
              <a:t>↓ 間に人のチェック（承認ボタン）が必ず入ります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  <a:latin typeface="Yu Gothic UI"/>
              </a:rPr>
              <a:t>AIに任せきりにしない、安心設計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機能① 経理自動化 (FR-02/03)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Yu Gothic UI"/>
              </a:rPr>
              <a:t>領収書を送るだけ → 自動で Google Sheets に記帳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こう動きます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領収書をスマホで撮影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7180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LINEで送信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7472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AIが店名・金額・日付を読取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7764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勘定科目を自動判定（食材費/消耗品等）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「これで記帳？」の確認が届く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9834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✅承認 → Sheets へ自動記帳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2880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20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ポイント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68880"/>
            <a:ext cx="5029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・OCR精度が低い時は手入力フォームに自動切替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・重複検知（同じ領収書を2回送っても1回のみ）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・月末自動集計（収支・科目別）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・助成金報告書にそのまま使える形式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21208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💡 領収書を撮ったらすぐ送る。溜めない運用が続くコツ。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機能② 参加者管理 (FR-04/05)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Yu Gothic UI"/>
              </a:rPr>
              <a:t>手書き名簿を送るだけ → 暗号化してFirestoreに保存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こう動きます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当日の手書き名簿を撮影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7180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LINEで送信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7472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AIが手書き文字を認識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7764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氏名は即ハッシュ化＋暗号化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Firestoreに安全に保存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20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ポイント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5029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・氏名はそのまま保存しません（SHA-256ハッシュ）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・復号キーは Secret Manager で厳重管理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・AES-256-GCM 暗号化（銀行と同等）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・閲覧は Owner/Staff のみ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・保護者同意書テンプレート付属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21208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🛡 個人情報保護法・こども基本法に準拠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機能③ SNS投稿 (FR-06/07/08)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Yu Gothic UI"/>
              </a:rPr>
              <a:t>写真・動画を送るだけ → 顔ぼかし＋キャプション自動生成で Instagram 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こう動きます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活動写真・動画をLINEで送信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7180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AIが全員の顔を自動ぼかし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7472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動画は縦向きリール編集＋BGM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7764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キャプションも自動生成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プレビュー → ✅承認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9834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Yu Gothic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8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Instagram自動投稿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2880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202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ポイント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68880"/>
            <a:ext cx="5029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・顔ぼかしは二重チェック（MediaPipe＋OpenCV）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・1人でも顔が残れば投稿ブロック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・ハッシュタグ自動付与（#こども食堂 等）</a:t>
            </a:r>
          </a:p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・投稿前に必ず人間の目で確認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21208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Yu Gothic UI"/>
              </a:rPr>
              <a:t>🙈 「うっかり顔バレ」をシステムで防ぐ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人間中心の承認フロー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Yu Gothic UI"/>
              </a:rPr>
              <a:t>AIは「下書き」を作るだけ。最終判断は必ず人間が行います。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Yu Gothic UI"/>
              </a:rPr>
              <a:t>①AI提案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LINEに確認カード</a:t>
            </a:r>
          </a:p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例：「コープ ¥3,240</a:t>
            </a:r>
          </a:p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食材費 でOK？」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7744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Yu Gothic UI"/>
              </a:rPr>
              <a:t>②人が確認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ボタンは3つ</a:t>
            </a:r>
          </a:p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✅ 承認</a:t>
            </a:r>
          </a:p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✏ 修正</a:t>
            </a:r>
          </a:p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❌ 却下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37744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Yu Gothic UI"/>
              </a:rPr>
              <a:t>③記録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承認後のみ</a:t>
            </a:r>
          </a:p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Sheets/DB に</a:t>
            </a:r>
          </a:p>
          <a:p>
            <a:pPr algn="ctr"/>
            <a:r>
              <a:rPr sz="1600" b="0" i="0">
                <a:solidFill>
                  <a:srgbClr val="2C2C2C"/>
                </a:solidFill>
                <a:latin typeface="Yu Gothic UI"/>
              </a:rPr>
              <a:t>書き込まれる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Yu Gothic UI"/>
              </a:rPr>
              <a:t>24時間以内の承認を推奨。リマインドも届きます。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3つの役割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828800"/>
            <a:ext cx="32004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役割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28800"/>
            <a:ext cx="4572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できること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828800"/>
            <a:ext cx="36576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向いている人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32004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600" b="0">
                <a:solidFill>
                  <a:srgbClr val="2C2C2C"/>
                </a:solidFill>
                <a:latin typeface="Yu Gothic UI"/>
              </a:rPr>
              <a:t>Owner (代表1名)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560320"/>
            <a:ext cx="4572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600" b="0">
                <a:solidFill>
                  <a:srgbClr val="2C2C2C"/>
                </a:solidFill>
                <a:latin typeface="Yu Gothic UI"/>
              </a:rPr>
              <a:t>全機能＋メンバー招待/削除＋削除操作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56032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600" b="0">
                <a:solidFill>
                  <a:srgbClr val="2C2C2C"/>
                </a:solidFill>
                <a:latin typeface="Yu Gothic UI"/>
              </a:rPr>
              <a:t>団体代表、会計責任者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32004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600" b="0">
                <a:solidFill>
                  <a:srgbClr val="2C2C2C"/>
                </a:solidFill>
                <a:latin typeface="Yu Gothic UI"/>
              </a:rPr>
              <a:t>Staff (2-5名)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291840"/>
            <a:ext cx="4572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600" b="0">
                <a:solidFill>
                  <a:srgbClr val="2C2C2C"/>
                </a:solidFill>
                <a:latin typeface="Yu Gothic UI"/>
              </a:rPr>
              <a:t>写真送信・承認・閲覧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29184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600" b="0">
                <a:solidFill>
                  <a:srgbClr val="2C2C2C"/>
                </a:solidFill>
                <a:latin typeface="Yu Gothic UI"/>
              </a:rPr>
              <a:t>常勤スタッフ、会計・広報担当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32004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600" b="0">
                <a:solidFill>
                  <a:srgbClr val="2C2C2C"/>
                </a:solidFill>
                <a:latin typeface="Yu Gothic UI"/>
              </a:rPr>
              <a:t>Viewer (任意)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023360"/>
            <a:ext cx="4572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600" b="0">
                <a:solidFill>
                  <a:srgbClr val="2C2C2C"/>
                </a:solidFill>
                <a:latin typeface="Yu Gothic UI"/>
              </a:rPr>
              <a:t>月次サマリーの閲覧のみ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023360"/>
            <a:ext cx="3657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600" b="0">
                <a:solidFill>
                  <a:srgbClr val="2C2C2C"/>
                </a:solidFill>
                <a:latin typeface="Yu Gothic UI"/>
              </a:rPr>
              <a:t>理事、助成元、監事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💡 初期は Owner 1名 + Staff 2名 がおすすめ。慣れてから広げましょう。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活動日1日の流れ（例）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64592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🌅 開催前 (10:00)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120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・食材買い出し → レシート撮影・送信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・会場準備 → LINEに「開始」送信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🍚 開催中 (12-14時)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5120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・受付で手書き名簿記入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・同意を得て写真撮影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・活動名簿を撮影・送信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🌇 開催後 (15:00)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5120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・写真・動画をLINE送信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・AIの確認カード3-4件に承認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・Instagram投稿完了 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📊 月初 (翌月1日)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800600"/>
            <a:ext cx="5120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・朝8時に月次サマリー到着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・Sheetsで収支を最終確認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・助成金報告書へコピペ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費用の目安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Yu Gothic UI"/>
              </a:rPr>
              <a:t>💰 月額コスト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solidFill>
            <a:srgbClr val="2E7D3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743200" cy="548640"/>
          </a:xfrm>
          <a:prstGeom prst="rect">
            <a:avLst/>
          </a:prstGeom>
          <a:solidFill>
            <a:srgbClr val="2E7D3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月額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200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0">
                <a:solidFill>
                  <a:srgbClr val="2C2C2C"/>
                </a:solidFill>
                <a:latin typeface="Yu Gothic UI"/>
              </a:rPr>
              <a:t>LINE Messaging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74320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0">
                <a:solidFill>
                  <a:srgbClr val="2C2C2C"/>
                </a:solidFill>
                <a:latin typeface="Yu Gothic UI"/>
              </a:rPr>
              <a:t>¥0（200通まで無料）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91840"/>
            <a:ext cx="3200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0">
                <a:solidFill>
                  <a:srgbClr val="2C2C2C"/>
                </a:solidFill>
                <a:latin typeface="Yu Gothic UI"/>
              </a:rPr>
              <a:t>Google Cloud (AI/DB)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29184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0">
                <a:solidFill>
                  <a:srgbClr val="2C2C2C"/>
                </a:solidFill>
                <a:latin typeface="Yu Gothic UI"/>
              </a:rPr>
              <a:t>¥500-¥2,000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200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0">
                <a:solidFill>
                  <a:srgbClr val="2C2C2C"/>
                </a:solidFill>
                <a:latin typeface="Yu Gothic UI"/>
              </a:rPr>
              <a:t>Instagram Graph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84048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0">
                <a:solidFill>
                  <a:srgbClr val="2C2C2C"/>
                </a:solidFill>
                <a:latin typeface="Yu Gothic UI"/>
              </a:rPr>
              <a:t>¥0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89120"/>
            <a:ext cx="3200400" cy="548640"/>
          </a:xfrm>
          <a:prstGeom prst="rect">
            <a:avLst/>
          </a:prstGeom>
          <a:solidFill>
            <a:srgbClr val="E8F5E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57C00"/>
                </a:solidFill>
                <a:latin typeface="Yu Gothic UI"/>
              </a:rPr>
              <a:t>合計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389120"/>
            <a:ext cx="2743200" cy="548640"/>
          </a:xfrm>
          <a:prstGeom prst="rect">
            <a:avLst/>
          </a:prstGeom>
          <a:solidFill>
            <a:srgbClr val="E8F5E9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57C00"/>
                </a:solidFill>
                <a:latin typeface="Yu Gothic UI"/>
              </a:rPr>
              <a:t>¥500-¥3,000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Yu Gothic UI"/>
              </a:rPr>
              <a:t>※月4回開催・参加者30名/回の想定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828800"/>
            <a:ext cx="4937760" cy="36576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0116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Yu Gothic UI"/>
              </a:rPr>
              <a:t>🎯 目標との比較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7432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C2C2C"/>
                </a:solidFill>
                <a:latin typeface="Yu Gothic UI"/>
              </a:rPr>
              <a:t>目標：月 ¥10,000以下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7C00"/>
                </a:solidFill>
                <a:latin typeface="Yu Gothic UI"/>
              </a:rPr>
              <a:t>実績：月 ¥500-¥3,000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29768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B5E20"/>
                </a:solidFill>
                <a:latin typeface="Yu Gothic UI"/>
              </a:rPr>
              <a:t>助成金の「運営管理費」で</a:t>
            </a:r>
          </a:p>
          <a:p>
            <a:pPr algn="l"/>
            <a:r>
              <a:rPr sz="1600" b="0" i="0">
                <a:solidFill>
                  <a:srgbClr val="1B5E20"/>
                </a:solidFill>
                <a:latin typeface="Yu Gothic UI"/>
              </a:rPr>
              <a:t>十分まかなえる水準です。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安心・安全への配慮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828800"/>
            <a:ext cx="3657600" cy="36576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Yu Gothic UI"/>
              </a:rPr>
              <a:t>🔐 個人情報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2918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・氏名ハッシュ化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・AES-256暗号化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・閲覧権限管理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657600" cy="3657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Yu Gothic UI"/>
              </a:rPr>
              <a:t>🙈 肖像権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32918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・自動顔ぼかし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・二重検出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・投稿前人間確認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657600" cy="36576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Yu Gothic UI"/>
              </a:rPr>
              <a:t>📜 法令遵守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017520"/>
            <a:ext cx="32918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・個人情報保護法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・こども基本法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・保護者同意書付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57C00"/>
                </a:solidFill>
                <a:latin typeface="Yu Gothic UI"/>
              </a:rPr>
              <a:t>子どもたちの笑顔を、責任をもって届けます。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導入ステップ（目安）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64592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🚀 Phase 1: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120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・LINE Bot セットアップ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・経理自動化 稼働開始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・所要：4-6時間（1日）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📈 Phase 2: フル機能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5120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・参加者OCR 精度調整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・月次サマリー配信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・所要：PoC 2週間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📱 Phase 3: SNS自動化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5120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・IGビジネス連携審査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・顔ぼかし・動画編集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・所要：2-4週間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Yu Gothic UI"/>
              </a:rPr>
              <a:t>🎯 本番運用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800600"/>
            <a:ext cx="5120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・毎週の使い方はLINEだけ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・月次で運用チェックリスト</a:t>
            </a:r>
          </a:p>
          <a:p>
            <a:pPr algn="l"/>
            <a:r>
              <a:rPr sz="1400" b="0" i="0">
                <a:solidFill>
                  <a:srgbClr val="2C2C2C"/>
                </a:solidFill>
                <a:latin typeface="Yu Gothic UI"/>
              </a:rPr>
              <a:t>・運用は月30分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困ったときは？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82880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Yu Gothic UI"/>
              </a:rPr>
              <a:t>📖 ドキュメント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・機能説明書 docs/features/（10冊）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・セットアップガイド docs/setup-guide/（15章）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・FAQ 40問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・印刷用PDFパック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  <a:latin typeface="Yu Gothic UI"/>
              </a:rPr>
              <a:t>🆘 トラブル対応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・OCR失敗 → 手入力フォームへ自動誘導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・LINE通信エラー → 3回自動再試行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・Instagram投稿失敗 → 管理画面通知</a:t>
            </a:r>
          </a:p>
          <a:p>
            <a:pPr algn="l"/>
            <a:r>
              <a:rPr sz="1600" b="0" i="0">
                <a:solidFill>
                  <a:srgbClr val="2C2C2C"/>
                </a:solidFill>
                <a:latin typeface="Yu Gothic UI"/>
              </a:rPr>
              <a:t>・月次レポートで健全性可視化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Yu Gothic UI"/>
              </a:rPr>
              <a:t>💬 Owner → システム担当者の順で相談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Yu Gothic UI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1B5E20"/>
                </a:solidFill>
                <a:latin typeface="Yu Gothic UI"/>
              </a:rPr>
              <a:t>📱 LINEに送るだけ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1B5E20"/>
                </a:solidFill>
                <a:latin typeface="Yu Gothic UI"/>
              </a:rPr>
              <a:t>🤖 AIが下書きを作る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F57C00"/>
                </a:solidFill>
                <a:latin typeface="Yu Gothic UI"/>
              </a:rPr>
              <a:t>✅ 最終判断は人間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84632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5029200"/>
            <a:ext cx="8961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0">
                <a:solidFill>
                  <a:srgbClr val="1B5E20"/>
                </a:solidFill>
                <a:latin typeface="Yu Gothic UI"/>
              </a:rPr>
              <a:t>「こども食堂の価値は、人と人のふれあい。</a:t>
            </a:r>
          </a:p>
          <a:p>
            <a:pPr algn="ctr"/>
            <a:r>
              <a:rPr sz="2000" b="0" i="0">
                <a:solidFill>
                  <a:srgbClr val="1B5E20"/>
                </a:solidFill>
                <a:latin typeface="Yu Gothic UI"/>
              </a:rPr>
              <a:t>事務はAIに、想いは人に。」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0" y="0"/>
            <a:ext cx="6126480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1B5E20"/>
                </a:solidFill>
                <a:latin typeface="Yu Gothic UI"/>
              </a:rPr>
              <a:t>ご質問はありますか？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 i="0">
                <a:solidFill>
                  <a:srgbClr val="2C2C2C"/>
                </a:solidFill>
                <a:latin typeface="Yu Gothic UI"/>
              </a:rPr>
              <a:t>💬 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Yu Gothic UI"/>
              </a:rPr>
              <a:t>📁 docs/features/ に詳しい資料があります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Yu Gothic UI"/>
              </a:rPr>
              <a:t>ManabiOps 研修スライド v1.0 / 学び舎キッチン / 2026年4月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Yu Gothic UI"/>
              </a:rPr>
              <a:t>ManabiOps © 学び舎キッチン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Yu Gothic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